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4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E30AB8-9B65-4460-9DCC-29903D74FA8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8840B-496D-4562-8B65-FFFBA5DA1B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955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Inter" panose="02000503000000020004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3EECF00-78E1-4449-9616-7D09DA6FB20D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  <a:lvl2pPr>
              <a:defRPr>
                <a:latin typeface="Inter" panose="02000503000000020004" pitchFamily="2" charset="0"/>
              </a:defRPr>
            </a:lvl2pPr>
            <a:lvl3pPr>
              <a:defRPr>
                <a:latin typeface="Inter" panose="02000503000000020004" pitchFamily="2" charset="0"/>
              </a:defRPr>
            </a:lvl3pPr>
            <a:lvl4pPr>
              <a:defRPr>
                <a:latin typeface="Inter" panose="02000503000000020004" pitchFamily="2" charset="0"/>
              </a:defRPr>
            </a:lvl4pPr>
            <a:lvl5pPr>
              <a:defRPr>
                <a:latin typeface="Inter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2F1A0690-07CA-425B-9535-76757BD6DBF8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Inter" panose="02000503000000020004" pitchFamily="2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1C284029-3B53-47EE-AE42-C53B4E958958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>
                <a:latin typeface="Inter" panose="02000503000000020004" pitchFamily="2" charset="0"/>
              </a:defRPr>
            </a:lvl1pPr>
            <a:lvl2pPr>
              <a:defRPr sz="2400">
                <a:latin typeface="Inter" panose="02000503000000020004" pitchFamily="2" charset="0"/>
              </a:defRPr>
            </a:lvl2pPr>
            <a:lvl3pPr>
              <a:defRPr sz="2000">
                <a:latin typeface="Inter" panose="02000503000000020004" pitchFamily="2" charset="0"/>
              </a:defRPr>
            </a:lvl3pPr>
            <a:lvl4pPr>
              <a:defRPr sz="1800">
                <a:latin typeface="Inter" panose="02000503000000020004" pitchFamily="2" charset="0"/>
              </a:defRPr>
            </a:lvl4pPr>
            <a:lvl5pPr>
              <a:defRPr sz="1800">
                <a:latin typeface="Inter" panose="02000503000000020004" pitchFamily="2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>
                <a:latin typeface="Inter" panose="02000503000000020004" pitchFamily="2" charset="0"/>
              </a:defRPr>
            </a:lvl1pPr>
            <a:lvl2pPr>
              <a:defRPr sz="2400">
                <a:latin typeface="Inter" panose="02000503000000020004" pitchFamily="2" charset="0"/>
              </a:defRPr>
            </a:lvl2pPr>
            <a:lvl3pPr>
              <a:defRPr sz="2000">
                <a:latin typeface="Inter" panose="02000503000000020004" pitchFamily="2" charset="0"/>
              </a:defRPr>
            </a:lvl3pPr>
            <a:lvl4pPr>
              <a:defRPr sz="1800">
                <a:latin typeface="Inter" panose="02000503000000020004" pitchFamily="2" charset="0"/>
              </a:defRPr>
            </a:lvl4pPr>
            <a:lvl5pPr>
              <a:defRPr sz="1800">
                <a:latin typeface="Inter" panose="02000503000000020004" pitchFamily="2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ECD55194-0B45-4600-8B83-54B2E010E2A5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Inter" panose="02000503000000020004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Inter" panose="02000503000000020004" pitchFamily="2" charset="0"/>
              </a:defRPr>
            </a:lvl1pPr>
            <a:lvl2pPr>
              <a:defRPr sz="2000">
                <a:latin typeface="Inter" panose="02000503000000020004" pitchFamily="2" charset="0"/>
              </a:defRPr>
            </a:lvl2pPr>
            <a:lvl3pPr>
              <a:defRPr sz="1800">
                <a:latin typeface="Inter" panose="02000503000000020004" pitchFamily="2" charset="0"/>
              </a:defRPr>
            </a:lvl3pPr>
            <a:lvl4pPr>
              <a:defRPr sz="1600">
                <a:latin typeface="Inter" panose="02000503000000020004" pitchFamily="2" charset="0"/>
              </a:defRPr>
            </a:lvl4pPr>
            <a:lvl5pPr>
              <a:defRPr sz="1600">
                <a:latin typeface="Inter" panose="02000503000000020004" pitchFamily="2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Inter" panose="02000503000000020004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>
                <a:latin typeface="Inter" panose="02000503000000020004" pitchFamily="2" charset="0"/>
              </a:defRPr>
            </a:lvl1pPr>
            <a:lvl2pPr>
              <a:defRPr sz="2000">
                <a:latin typeface="Inter" panose="02000503000000020004" pitchFamily="2" charset="0"/>
              </a:defRPr>
            </a:lvl2pPr>
            <a:lvl3pPr>
              <a:defRPr sz="1800">
                <a:latin typeface="Inter" panose="02000503000000020004" pitchFamily="2" charset="0"/>
              </a:defRPr>
            </a:lvl3pPr>
            <a:lvl4pPr>
              <a:defRPr sz="1600">
                <a:latin typeface="Inter" panose="02000503000000020004" pitchFamily="2" charset="0"/>
              </a:defRPr>
            </a:lvl4pPr>
            <a:lvl5pPr>
              <a:defRPr sz="1600">
                <a:latin typeface="Inter" panose="02000503000000020004" pitchFamily="2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AEF34DBF-B298-4454-A957-635008670EAC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46D4449D-FDE1-41F4-ABCA-E35877BAC04C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84D0BED3-4661-45E4-8B82-419B9FE3FEFA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>
                <a:latin typeface="Inter" panose="02000503000000020004" pitchFamily="2" charset="0"/>
              </a:defRPr>
            </a:lvl1pPr>
            <a:lvl2pPr>
              <a:defRPr sz="2800">
                <a:latin typeface="Inter" panose="02000503000000020004" pitchFamily="2" charset="0"/>
              </a:defRPr>
            </a:lvl2pPr>
            <a:lvl3pPr>
              <a:defRPr sz="2400">
                <a:latin typeface="Inter" panose="02000503000000020004" pitchFamily="2" charset="0"/>
              </a:defRPr>
            </a:lvl3pPr>
            <a:lvl4pPr>
              <a:defRPr sz="2000">
                <a:latin typeface="Inter" panose="02000503000000020004" pitchFamily="2" charset="0"/>
              </a:defRPr>
            </a:lvl4pPr>
            <a:lvl5pPr>
              <a:defRPr sz="2000">
                <a:latin typeface="Inter" panose="02000503000000020004" pitchFamily="2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Inter" panose="02000503000000020004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A0A5488-A426-4EBD-9570-8A8A5BFBDF14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>
                <a:latin typeface="Inter" panose="02000503000000020004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Inter" panose="02000503000000020004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441FB1A2-4EF4-4FF9-87EA-278DEF5FA8D2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Inter" panose="02000503000000020004" pitchFamily="2" charset="0"/>
              </a:defRPr>
            </a:lvl1pPr>
            <a:lvl2pPr>
              <a:defRPr>
                <a:latin typeface="Inter" panose="02000503000000020004" pitchFamily="2" charset="0"/>
              </a:defRPr>
            </a:lvl2pPr>
            <a:lvl3pPr>
              <a:defRPr>
                <a:latin typeface="Inter" panose="02000503000000020004" pitchFamily="2" charset="0"/>
              </a:defRPr>
            </a:lvl3pPr>
            <a:lvl4pPr>
              <a:defRPr>
                <a:latin typeface="Inter" panose="02000503000000020004" pitchFamily="2" charset="0"/>
              </a:defRPr>
            </a:lvl4pPr>
            <a:lvl5pPr>
              <a:defRPr>
                <a:latin typeface="Inter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E99B7732-3C77-4B9E-8253-49E130B2D5C3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>
            <a:lvl1pPr>
              <a:defRPr>
                <a:latin typeface="Inter" panose="02000503000000020004" pitchFamily="2" charset="0"/>
              </a:defRPr>
            </a:lvl1pPr>
            <a:lvl2pPr>
              <a:defRPr>
                <a:latin typeface="Inter" panose="02000503000000020004" pitchFamily="2" charset="0"/>
              </a:defRPr>
            </a:lvl2pPr>
            <a:lvl3pPr>
              <a:defRPr>
                <a:latin typeface="Inter" panose="02000503000000020004" pitchFamily="2" charset="0"/>
              </a:defRPr>
            </a:lvl3pPr>
            <a:lvl4pPr>
              <a:defRPr>
                <a:latin typeface="Inter" panose="02000503000000020004" pitchFamily="2" charset="0"/>
              </a:defRPr>
            </a:lvl4pPr>
            <a:lvl5pPr>
              <a:defRPr>
                <a:latin typeface="Inter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EC48D0FA-1C4A-48D5-B679-D5A058B14D3D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pitchFamily="2" charset="0"/>
              </a:defRPr>
            </a:lvl1pPr>
          </a:lstStyle>
          <a:p>
            <a:fld id="{1DFC707C-1229-4D50-B5F0-FD1BD9B8CB0A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pitchFamily="2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Inter" panose="02000503000000020004" pitchFamily="2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Inter" panose="02000503000000020004" pitchFamily="2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Inter" panose="02000503000000020004" pitchFamily="2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Inter" panose="02000503000000020004" pitchFamily="2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Inter" panose="02000503000000020004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Inter" panose="02000503000000020004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DAA2C187-EAFF-55B3-9371-D1A919EFA096}"/>
              </a:ext>
            </a:extLst>
          </p:cNvPr>
          <p:cNvGrpSpPr/>
          <p:nvPr/>
        </p:nvGrpSpPr>
        <p:grpSpPr>
          <a:xfrm>
            <a:off x="1908810" y="1752600"/>
            <a:ext cx="8374380" cy="2457770"/>
            <a:chOff x="731520" y="1727210"/>
            <a:chExt cx="7680960" cy="20658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AEFA97-9B56-51C0-1C48-17602D9CE849}"/>
                </a:ext>
              </a:extLst>
            </p:cNvPr>
            <p:cNvSpPr txBox="1"/>
            <p:nvPr/>
          </p:nvSpPr>
          <p:spPr>
            <a:xfrm>
              <a:off x="731520" y="1727210"/>
              <a:ext cx="768096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000" b="1" i="0" dirty="0">
                  <a:solidFill>
                    <a:srgbClr val="1A1A1A"/>
                  </a:solidFill>
                  <a:latin typeface="Inter" panose="02000503000000020004" pitchFamily="2" charset="0"/>
                </a:rPr>
                <a:t>QR CODE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EADC6AB-4B55-43F4-AABB-A33AD655B84D}"/>
                </a:ext>
              </a:extLst>
            </p:cNvPr>
            <p:cNvSpPr txBox="1"/>
            <p:nvPr/>
          </p:nvSpPr>
          <p:spPr>
            <a:xfrm>
              <a:off x="731520" y="2504450"/>
              <a:ext cx="76809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0" i="0" dirty="0">
                  <a:solidFill>
                    <a:srgbClr val="333333"/>
                  </a:solidFill>
                  <a:latin typeface="Inter" panose="02000503000000020004" pitchFamily="2" charset="0"/>
                </a:rPr>
                <a:t>Generation &amp; Scanning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22D02C-ABAD-2507-63FB-2B3F5B47B838}"/>
                </a:ext>
              </a:extLst>
            </p:cNvPr>
            <p:cNvSpPr txBox="1"/>
            <p:nvPr/>
          </p:nvSpPr>
          <p:spPr>
            <a:xfrm>
              <a:off x="731520" y="3327410"/>
              <a:ext cx="7680960" cy="4656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i="0" dirty="0" err="1">
                  <a:solidFill>
                    <a:srgbClr val="333333"/>
                  </a:solidFill>
                  <a:latin typeface="Inter" panose="02000503000000020004" pitchFamily="2" charset="0"/>
                </a:rPr>
                <a:t>Nhóm</a:t>
              </a:r>
              <a:r>
                <a:rPr lang="en-US" sz="1600" b="1" i="0" dirty="0">
                  <a:solidFill>
                    <a:srgbClr val="333333"/>
                  </a:solidFill>
                  <a:latin typeface="Inter" panose="02000503000000020004" pitchFamily="2" charset="0"/>
                </a:rPr>
                <a:t>: SOA.26-34 		     </a:t>
              </a:r>
              <a:r>
                <a:rPr lang="vi-VN" sz="1600" b="1" i="0" dirty="0">
                  <a:solidFill>
                    <a:srgbClr val="333333"/>
                  </a:solidFill>
                  <a:latin typeface="Inter" panose="02000503000000020004" pitchFamily="2" charset="0"/>
                </a:rPr>
                <a:t>    		    Seminar</a:t>
              </a:r>
              <a:r>
                <a:rPr lang="en-US" sz="1600" b="1" dirty="0">
                  <a:solidFill>
                    <a:srgbClr val="333333"/>
                  </a:solidFill>
                  <a:latin typeface="Inter" panose="02000503000000020004" pitchFamily="2" charset="0"/>
                </a:rPr>
                <a:t>: </a:t>
              </a:r>
              <a:r>
                <a:rPr lang="vi-VN" sz="1600" b="1" dirty="0">
                  <a:solidFill>
                    <a:srgbClr val="333333"/>
                  </a:solidFill>
                  <a:latin typeface="Inter" panose="02000503000000020004" pitchFamily="2" charset="0"/>
                </a:rPr>
                <a:t>Kiến trúc Hướng dịch vụ </a:t>
              </a:r>
              <a:r>
                <a:rPr lang="en-US" sz="1600" b="1" i="0" dirty="0">
                  <a:solidFill>
                    <a:srgbClr val="333333"/>
                  </a:solidFill>
                  <a:latin typeface="Inter" panose="02000503000000020004" pitchFamily="2" charset="0"/>
                </a:rPr>
                <a:t>- </a:t>
              </a:r>
              <a:r>
                <a:rPr lang="vi-VN" sz="1600" b="1" i="0" dirty="0">
                  <a:solidFill>
                    <a:srgbClr val="333333"/>
                  </a:solidFill>
                  <a:latin typeface="Inter" panose="02000503000000020004" pitchFamily="2" charset="0"/>
                </a:rPr>
                <a:t>504070</a:t>
              </a:r>
            </a:p>
            <a:p>
              <a:pPr algn="just"/>
              <a:r>
                <a:rPr lang="vi-VN" sz="1400" b="0" i="0" dirty="0">
                  <a:solidFill>
                    <a:srgbClr val="666666"/>
                  </a:solidFill>
                  <a:latin typeface="Inter" panose="02000503000000020004" pitchFamily="2" charset="0"/>
                </a:rPr>
                <a:t>Giảng viên: Dương Hữu Phúc 							   	        Học kỳ 1 2026 - 2027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A309A2-7907-C30E-9641-4B9C5C98676C}"/>
                </a:ext>
              </a:extLst>
            </p:cNvPr>
            <p:cNvSpPr/>
            <p:nvPr/>
          </p:nvSpPr>
          <p:spPr>
            <a:xfrm>
              <a:off x="731520" y="3144530"/>
              <a:ext cx="7680960" cy="254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Inter" panose="02000503000000020004" pitchFamily="2" charset="0"/>
              </a:endParaRPr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8C7CE6E-6AD8-32D0-6D0E-00193F32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7DE5D-662F-4F8A-883D-BBF9EA2F05AF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BEEECD8-F67E-D503-F8EE-3989DA241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Nội Dung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485243"/>
              </p:ext>
            </p:extLst>
          </p:nvPr>
        </p:nvGraphicFramePr>
        <p:xfrm>
          <a:off x="1613535" y="1417320"/>
          <a:ext cx="8446519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66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79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#</a:t>
                      </a:r>
                      <a:endParaRPr sz="105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Nội dung</a:t>
                      </a:r>
                      <a:endParaRPr sz="105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01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QR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Là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Gì</a:t>
                      </a:r>
                      <a:endParaRPr lang="en-US"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02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Các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Loại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QR Trong Demo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03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vi-VN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Các Use Cases Của 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QR Trong Demo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04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Khi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Nào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Thì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Nên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Dùng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Nên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Dùng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QR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05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Kiến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Trúc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Của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Demo	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06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Luồng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Xử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Lý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07</a:t>
                      </a:r>
                      <a:endParaRPr sz="105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Các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Loại</a:t>
                      </a:r>
                      <a:r>
                        <a:rPr lang="en-US" sz="105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API</a:t>
                      </a:r>
                    </a:p>
                  </a:txBody>
                  <a:tcPr marL="82296" marR="82296" marT="27432" marB="2743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806754C-B055-4C42-6B80-69A4C5C87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B85D8-BD9A-4244-8C1F-A46092ADA415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106E405-0715-115C-8035-C855B4DBA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QR Là Gì</a:t>
            </a:r>
            <a:endParaRPr sz="2400" b="1" dirty="0">
              <a:solidFill>
                <a:srgbClr val="1A1A1A"/>
              </a:solidFill>
              <a:latin typeface="Inter" panose="02000503000000020004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0016" y="1616103"/>
            <a:ext cx="7187184" cy="21082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Mã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vạch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2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chiều</a:t>
            </a:r>
            <a:endParaRPr sz="1400" b="1" dirty="0">
              <a:solidFill>
                <a:srgbClr val="1A1A1A"/>
              </a:solidFill>
              <a:latin typeface="Inter" panose="02000503000000020004" pitchFamily="2" charset="0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Theo c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huẩn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ISO/IEC 18004 (Denso Wave, 1994),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lưu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dữ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liệu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trong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ma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trận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ô các ô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đen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/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trắng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Chế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độ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mã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hóa</a:t>
            </a:r>
            <a:endParaRPr sz="1400" b="1" dirty="0">
              <a:solidFill>
                <a:srgbClr val="1A1A1A"/>
              </a:solidFill>
              <a:latin typeface="Inter" panose="02000503000000020004" pitchFamily="2" charset="0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Numeric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alphanumeric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byte (UTF-8) </a:t>
            </a:r>
            <a:r>
              <a:rPr lang="vi-VN" sz="140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Kanji. Version 1–40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và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ECC L/M/Q/H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quyết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định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dung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lượng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khả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năng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phục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hồi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Thành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phần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vật</a:t>
            </a:r>
            <a:r>
              <a:rPr sz="1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1" dirty="0" err="1">
                <a:solidFill>
                  <a:srgbClr val="1A1A1A"/>
                </a:solidFill>
                <a:latin typeface="Inter" panose="02000503000000020004" pitchFamily="2" charset="0"/>
              </a:rPr>
              <a:t>lý</a:t>
            </a:r>
            <a:endParaRPr sz="1400" b="1" dirty="0">
              <a:solidFill>
                <a:srgbClr val="1A1A1A"/>
              </a:solidFill>
              <a:latin typeface="Inter" panose="02000503000000020004" pitchFamily="2" charset="0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Finder pattern (3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góc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)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alignment pattern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timing pattern </a:t>
            </a: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quiet zone.</a:t>
            </a:r>
          </a:p>
        </p:txBody>
      </p:sp>
      <p:pic>
        <p:nvPicPr>
          <p:cNvPr id="9" name="Picture 8" descr="qr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678325"/>
            <a:ext cx="2926080" cy="2926080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89AD130-FF42-7289-0609-40660EEF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3FFCA-FB35-4586-A27B-8D1FFB22055C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4C9A475-9EA4-2AA8-78A9-DCBDC350D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 dirty="0">
                <a:solidFill>
                  <a:srgbClr val="1A1A1A"/>
                </a:solidFill>
                <a:latin typeface="Inter" panose="02000503000000020004" pitchFamily="2" charset="0"/>
              </a:rPr>
              <a:t>QR </a:t>
            </a:r>
            <a:r>
              <a:rPr lang="en-US" sz="2400" b="1" dirty="0" err="1">
                <a:solidFill>
                  <a:srgbClr val="1A1A1A"/>
                </a:solidFill>
                <a:latin typeface="Inter" panose="02000503000000020004" pitchFamily="2" charset="0"/>
              </a:rPr>
              <a:t>Không</a:t>
            </a:r>
            <a:r>
              <a:rPr lang="en-US" sz="2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lang="en-US" sz="2400" b="1" dirty="0" err="1">
                <a:solidFill>
                  <a:srgbClr val="1A1A1A"/>
                </a:solidFill>
                <a:latin typeface="Inter" panose="02000503000000020004" pitchFamily="2" charset="0"/>
              </a:rPr>
              <a:t>Làm</a:t>
            </a:r>
            <a:r>
              <a:rPr lang="en-US" sz="2400" b="1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lang="en-US" sz="2400" b="1" dirty="0" err="1">
                <a:solidFill>
                  <a:srgbClr val="1A1A1A"/>
                </a:solidFill>
                <a:latin typeface="Inter" panose="02000503000000020004" pitchFamily="2" charset="0"/>
              </a:rPr>
              <a:t>Gì</a:t>
            </a: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 Được</a:t>
            </a:r>
            <a:endParaRPr lang="en-US" sz="2400" b="1" dirty="0">
              <a:solidFill>
                <a:srgbClr val="1A1A1A"/>
              </a:solidFill>
              <a:latin typeface="Inter" panose="02000503000000020004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323916"/>
              </p:ext>
            </p:extLst>
          </p:nvPr>
        </p:nvGraphicFramePr>
        <p:xfrm>
          <a:off x="670560" y="1371600"/>
          <a:ext cx="10850880" cy="38647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01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29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QR </a:t>
                      </a:r>
                      <a:r>
                        <a:rPr lang="vi-VN"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Không Làm Được</a:t>
                      </a:r>
                      <a:endParaRPr sz="120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Hệ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quả</a:t>
                      </a:r>
                      <a:endParaRPr sz="120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9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mã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hóa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Ai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có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ảnh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đều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đọc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được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nội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dung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bên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trong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29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xác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thực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chứng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minh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người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cầm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chủ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vé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29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chống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sao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chép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Chụp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màn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hình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hoặc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in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lại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có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bản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sao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29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bảo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đảm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đích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an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toàn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Phải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kiểm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tra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domain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token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trước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mở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DF16AF2-1656-CADD-BB85-D0F6A3F58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561A3-3F49-4775-98C2-43757CFCF1F8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D322F34-FA42-372B-95E5-A2DAB2FF6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 dirty="0" err="1">
                <a:solidFill>
                  <a:srgbClr val="1A1A1A"/>
                </a:solidFill>
                <a:latin typeface="Inter" panose="02000503000000020004" pitchFamily="2" charset="0"/>
              </a:rPr>
              <a:t>Các</a:t>
            </a:r>
            <a:r>
              <a:rPr lang="en-US" sz="2400" b="1" dirty="0">
                <a:solidFill>
                  <a:srgbClr val="1A1A1A"/>
                </a:solidFill>
                <a:latin typeface="Inter" panose="02000503000000020004" pitchFamily="2" charset="0"/>
              </a:rPr>
              <a:t> Use Cases </a:t>
            </a:r>
            <a:r>
              <a:rPr lang="en-US" sz="2400" b="1" dirty="0" err="1">
                <a:solidFill>
                  <a:srgbClr val="1A1A1A"/>
                </a:solidFill>
                <a:latin typeface="Inter" panose="02000503000000020004" pitchFamily="2" charset="0"/>
              </a:rPr>
              <a:t>Của</a:t>
            </a:r>
            <a:r>
              <a:rPr lang="en-US" sz="2400" b="1" dirty="0">
                <a:solidFill>
                  <a:srgbClr val="1A1A1A"/>
                </a:solidFill>
                <a:latin typeface="Inter" panose="02000503000000020004" pitchFamily="2" charset="0"/>
              </a:rPr>
              <a:t> QR Trong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826568"/>
              </p:ext>
            </p:extLst>
          </p:nvPr>
        </p:nvGraphicFramePr>
        <p:xfrm>
          <a:off x="670560" y="1371600"/>
          <a:ext cx="108508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0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1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5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Loại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QR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QR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trỏ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tới</a:t>
                      </a:r>
                      <a:endParaRPr sz="120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Hành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động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sau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khi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quét</a:t>
                      </a:r>
                      <a:endParaRPr sz="120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PRODUCT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URL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hoặc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token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tra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cứu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sản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phẩm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Hiện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lô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tin,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bảo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hành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,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EVENT_CHECKIN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Token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vé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gắn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với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một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sự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kiện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Xác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minh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tiêu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thụ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vé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đúng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một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lần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DIGITAL_TICKET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Token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vé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có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hạn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trạng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thái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Xác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minh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cho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vào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cửa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;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có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thể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thu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hồi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0E1668B-F3FB-AA4E-F596-67CF901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E9BB4-7928-441D-B164-3BDE6C064CB5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8A8A565-BE6E-83A1-B66A-206B6F91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28672" y="512064"/>
            <a:ext cx="919276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Khi Nào Thì Nên Dùng Và Không Nên Dùng QR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010656" y="1417320"/>
            <a:ext cx="17068" cy="35661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0560" y="1417320"/>
            <a:ext cx="47548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dirty="0">
                <a:solidFill>
                  <a:srgbClr val="C00000"/>
                </a:solidFill>
                <a:latin typeface="Inter" panose="02000503000000020004" pitchFamily="2" charset="0"/>
              </a:rPr>
              <a:t>NÊN DÙNG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1783080"/>
            <a:ext cx="4876800" cy="1323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Chuyển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thông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tin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nhanh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chỉ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một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lần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quét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Nối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vật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thể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vật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lý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với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dữ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liệu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số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: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sản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phẩm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vé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thiết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bị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Check-in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số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lượng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lớn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trong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thời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gian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ngắn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Đã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có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backend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quản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lý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trạng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thái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và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phân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quyền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720" y="1417320"/>
            <a:ext cx="4876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dirty="0">
                <a:solidFill>
                  <a:srgbClr val="C00000"/>
                </a:solidFill>
                <a:latin typeface="Inter" panose="02000503000000020004" pitchFamily="2" charset="0"/>
              </a:rPr>
              <a:t>KHÔNG NÊN / CHƯA ĐỦ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2720" y="1783080"/>
            <a:ext cx="4998719" cy="17543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Cần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định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danh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cá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nhân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chắc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chắn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lang="en-US" sz="1400" b="0" dirty="0">
                <a:solidFill>
                  <a:srgbClr val="1A1A1A"/>
                </a:solidFill>
                <a:latin typeface="Inter" panose="02000503000000020004" pitchFamily="2" charset="0"/>
              </a:rPr>
              <a:t>,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phải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thêm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giấy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tờ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hoặc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OTP.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Thanh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toán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lang="en-US" sz="1400" b="0" dirty="0">
                <a:solidFill>
                  <a:srgbClr val="1A1A1A"/>
                </a:solidFill>
                <a:latin typeface="Inter" panose="02000503000000020004" pitchFamily="2" charset="0"/>
              </a:rPr>
              <a:t>,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QR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chỉ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là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kênh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truyền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,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cần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xác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thực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giao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dịch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Không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có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backend </a:t>
            </a:r>
            <a:r>
              <a:rPr lang="en-US" sz="1400" b="0" dirty="0">
                <a:solidFill>
                  <a:srgbClr val="1A1A1A"/>
                </a:solidFill>
                <a:latin typeface="Inter" panose="02000503000000020004" pitchFamily="2" charset="0"/>
              </a:rPr>
              <a:t>,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QR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tĩnh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thì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ai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chụp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cũng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dùng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được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vi-VN" sz="1400" b="0" dirty="0">
                <a:solidFill>
                  <a:srgbClr val="1A1A1A"/>
                </a:solidFill>
                <a:latin typeface="Inter" panose="02000503000000020004" pitchFamily="2" charset="0"/>
              </a:rPr>
              <a:t>-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Cần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chống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trùng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toàn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cục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khi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mạng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không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ổn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 </a:t>
            </a:r>
            <a:r>
              <a:rPr sz="1400" b="0" dirty="0" err="1">
                <a:solidFill>
                  <a:srgbClr val="1A1A1A"/>
                </a:solidFill>
                <a:latin typeface="Inter" panose="02000503000000020004" pitchFamily="2" charset="0"/>
              </a:rPr>
              <a:t>định</a:t>
            </a:r>
            <a:r>
              <a:rPr sz="1400" b="0" dirty="0">
                <a:solidFill>
                  <a:srgbClr val="1A1A1A"/>
                </a:solidFill>
                <a:latin typeface="Inter" panose="02000503000000020004" pitchFamily="2" charset="0"/>
              </a:rPr>
              <a:t>.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2BDA5D6C-92F6-F8E8-5DB5-A3920A241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1C3F8-D34A-4624-92D4-9B278AF71259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8D97B8D-D342-CFDE-2561-6B33E93A4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Kiến Trúc Của Demo	</a:t>
            </a:r>
            <a:endParaRPr sz="2400" b="1" dirty="0">
              <a:solidFill>
                <a:srgbClr val="1A1A1A"/>
              </a:solidFill>
              <a:latin typeface="Inter" panose="02000503000000020004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0560" y="1371600"/>
            <a:ext cx="10850880" cy="273895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5632" y="1490472"/>
            <a:ext cx="10460736" cy="245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Admin / Client --POST /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api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/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qr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--&gt;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FastAPI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(demo/app.py)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                                   |- validate payload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                                   |-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secrets.token_urlsafe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(24)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                                   |-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qrcode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[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pil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] --&gt; PNG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                                   </a:t>
            </a:r>
            <a:r>
              <a:rPr lang="vi-VN" sz="1200" dirty="0">
                <a:solidFill>
                  <a:srgbClr val="333333"/>
                </a:solidFill>
                <a:latin typeface="JetBrains Mono"/>
              </a:rPr>
              <a:t>|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- token registry (in-memory)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endParaRPr sz="1200" b="0" dirty="0">
              <a:solidFill>
                <a:srgbClr val="333333"/>
              </a:solidFill>
              <a:latin typeface="JetBrains Mono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Phone / Scanner --GET /t/{token}</a:t>
            </a:r>
            <a:r>
              <a:rPr lang="vi-VN"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--&gt;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FastAPI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--&gt; resolve / ticket page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                --POST /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api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/check-ins--&gt; lock + set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used_at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--&gt; 200 / 409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FC27446-1103-09EF-2B28-37B88102A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D6C81-20EB-44C6-BB81-893DBB6BCB3B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9E583C7-0261-01B1-B4FC-3F2557CD4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Luồng Xử Lý</a:t>
            </a:r>
            <a:endParaRPr sz="2400" b="1" dirty="0">
              <a:solidFill>
                <a:srgbClr val="1A1A1A"/>
              </a:solidFill>
              <a:latin typeface="Inter" panose="02000503000000020004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4860" y="1508557"/>
            <a:ext cx="51206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dirty="0">
                <a:solidFill>
                  <a:srgbClr val="1A1A1A"/>
                </a:solidFill>
                <a:latin typeface="Inter" panose="02000503000000020004" pitchFamily="2" charset="0"/>
              </a:rPr>
              <a:t>PHÁT HÀNH QR</a:t>
            </a:r>
          </a:p>
        </p:txBody>
      </p:sp>
      <p:sp>
        <p:nvSpPr>
          <p:cNvPr id="9" name="Rectangle 8"/>
          <p:cNvSpPr/>
          <p:nvPr/>
        </p:nvSpPr>
        <p:spPr>
          <a:xfrm>
            <a:off x="784860" y="1974323"/>
            <a:ext cx="5120640" cy="2295055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9932" y="2138583"/>
            <a:ext cx="4730496" cy="1827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1. Client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gửi</a:t>
            </a:r>
            <a:r>
              <a:rPr lang="vi-VN" sz="120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{type,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referenceId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, label}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2. Validate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loại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QR +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dữ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liệu</a:t>
            </a:r>
            <a:endParaRPr sz="1200" b="0" dirty="0">
              <a:solidFill>
                <a:srgbClr val="333333"/>
              </a:solidFill>
              <a:latin typeface="JetBrains Mono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3. Sinh token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ngẫu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nhiên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24 byte (~192 bit)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4.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Lưu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token,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hạn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,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trạng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thái</a:t>
            </a:r>
            <a:endParaRPr sz="1200" b="0" dirty="0">
              <a:solidFill>
                <a:srgbClr val="333333"/>
              </a:solidFill>
              <a:latin typeface="JetBrains Mono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5. Encode URL -&gt; PNG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6.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Trả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ảnh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+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expiresAt</a:t>
            </a:r>
            <a:endParaRPr sz="1200" b="0" dirty="0">
              <a:solidFill>
                <a:srgbClr val="333333"/>
              </a:solidFill>
              <a:latin typeface="JetBrains Mon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20028" y="1479845"/>
            <a:ext cx="51206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b="1" dirty="0">
                <a:solidFill>
                  <a:srgbClr val="1A1A1A"/>
                </a:solidFill>
                <a:latin typeface="Inter" panose="02000503000000020004" pitchFamily="2" charset="0"/>
              </a:rPr>
              <a:t>QUÉT &amp; CHECK-IN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028" y="1974324"/>
            <a:ext cx="5006340" cy="186615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15100" y="2121952"/>
            <a:ext cx="4730496" cy="15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1. Scanner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đọc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URL/token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2. GET /t/{token}</a:t>
            </a:r>
            <a:r>
              <a:rPr lang="vi-VN" sz="1200" b="0" dirty="0">
                <a:solidFill>
                  <a:srgbClr val="333333"/>
                </a:solidFill>
                <a:latin typeface="JetBrains Mono"/>
              </a:rPr>
              <a:t> 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3. POST /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api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/check-ins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4. Lock +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kiểm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tra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used_at</a:t>
            </a:r>
            <a:endParaRPr sz="1200" b="0" dirty="0">
              <a:solidFill>
                <a:srgbClr val="333333"/>
              </a:solidFill>
              <a:latin typeface="JetBrains Mono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200" b="0" dirty="0">
                <a:solidFill>
                  <a:srgbClr val="333333"/>
                </a:solidFill>
                <a:latin typeface="JetBrains Mono"/>
              </a:rPr>
              <a:t>5. 200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lần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đầu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lang="en-US" sz="1200" b="0" dirty="0">
                <a:solidFill>
                  <a:srgbClr val="333333"/>
                </a:solidFill>
                <a:latin typeface="JetBrains Mono"/>
              </a:rPr>
              <a:t>-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409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lần</a:t>
            </a:r>
            <a:r>
              <a:rPr sz="1200" b="0" dirty="0">
                <a:solidFill>
                  <a:srgbClr val="333333"/>
                </a:solidFill>
                <a:latin typeface="JetBrains Mono"/>
              </a:rPr>
              <a:t> </a:t>
            </a:r>
            <a:r>
              <a:rPr sz="1200" b="0" dirty="0" err="1">
                <a:solidFill>
                  <a:srgbClr val="333333"/>
                </a:solidFill>
                <a:latin typeface="JetBrains Mono"/>
              </a:rPr>
              <a:t>sau</a:t>
            </a:r>
            <a:endParaRPr sz="1200" b="0" dirty="0">
              <a:solidFill>
                <a:srgbClr val="333333"/>
              </a:solidFill>
              <a:latin typeface="JetBrains Mono"/>
            </a:endParaRP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7443589C-A908-2944-D915-F9783CE3C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12D7A-0393-47BE-935D-5679FAE948D5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C5AB0FD0-E9B0-4A14-2DDC-11B76130D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Các Loại API</a:t>
            </a:r>
            <a:endParaRPr sz="2400" b="1" dirty="0">
              <a:solidFill>
                <a:srgbClr val="1A1A1A"/>
              </a:solidFill>
              <a:latin typeface="Inter" panose="02000503000000020004" pitchFamily="2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721338"/>
              </p:ext>
            </p:extLst>
          </p:nvPr>
        </p:nvGraphicFramePr>
        <p:xfrm>
          <a:off x="1055370" y="1330450"/>
          <a:ext cx="10081260" cy="4278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1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370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Method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Endpoint</a:t>
                      </a: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Mục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Inter" panose="02000503000000020004" pitchFamily="2" charset="0"/>
                        </a:rPr>
                        <a:t>đích</a:t>
                      </a:r>
                      <a:endParaRPr sz="1200" b="1" dirty="0">
                        <a:solidFill>
                          <a:srgbClr val="FFFFFF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qr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Cấp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QR,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trả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token +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ảnh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PNG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qr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/resolve/{token}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Tra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cứu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tin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công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khai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qr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/image/{token}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Ảnh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PNG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của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mã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/t/{token}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Trang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vé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/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trang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sản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phẩm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/check-ins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Check-in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một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lần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en-US"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,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lang="vi-VN"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code 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409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nếu</a:t>
                      </a:r>
                      <a:r>
                        <a:rPr lang="vi-VN"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vé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đã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dùng</a:t>
                      </a:r>
                      <a:endParaRPr sz="1200" b="0" dirty="0">
                        <a:solidFill>
                          <a:srgbClr val="1A1A1A"/>
                        </a:solidFill>
                        <a:latin typeface="Inter" panose="02000503000000020004" pitchFamily="2" charset="0"/>
                      </a:endParaRP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11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GET / POST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/stats </a:t>
                      </a:r>
                      <a:r>
                        <a:rPr lang="en-US"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-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/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api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/reset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Thống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kê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và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reset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lịch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sử</a:t>
                      </a:r>
                      <a:r>
                        <a:rPr sz="1200" b="0" dirty="0">
                          <a:solidFill>
                            <a:srgbClr val="1A1A1A"/>
                          </a:solidFill>
                          <a:latin typeface="Inter" panose="02000503000000020004" pitchFamily="2" charset="0"/>
                        </a:rPr>
                        <a:t> check-in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7425BDE9-65A1-D7F1-54FC-6EC29698A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F13CA-7217-4E67-9295-808B2788C869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A148F8-2E01-BCE6-13C4-0BA98D240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" y="27432"/>
            <a:ext cx="1709928" cy="941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58696" y="512064"/>
            <a:ext cx="97627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dirty="0">
                <a:solidFill>
                  <a:srgbClr val="1A1A1A"/>
                </a:solidFill>
                <a:latin typeface="Inter" panose="02000503000000020004" pitchFamily="2" charset="0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560" y="1115568"/>
            <a:ext cx="10850880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Inter" panose="02000503000000020004" pitchFamily="2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1550" y="2804160"/>
            <a:ext cx="102489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lang="vi-VN" sz="2400" b="1" dirty="0">
                <a:solidFill>
                  <a:srgbClr val="1A1A1A"/>
                </a:solidFill>
                <a:latin typeface="Inter" panose="02000503000000020004" pitchFamily="2" charset="0"/>
              </a:rPr>
              <a:t>Cảm ơn Thầy và các bạn đã lắng nghe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CCADE6F-B245-A8F6-A15E-9A0E9AE8E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7D0C2-3A65-42F0-B39E-B9C2935C8422}" type="datetime1">
              <a:rPr lang="en-GB" smtClean="0"/>
              <a:t>19/10/2026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A9D71DB-B1ED-9838-F7AE-6CBF4BA36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768</Words>
  <Application>Microsoft Office PowerPoint</Application>
  <PresentationFormat>Widescreen</PresentationFormat>
  <Paragraphs>130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Inter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Hoa Khang</cp:lastModifiedBy>
  <cp:revision>2</cp:revision>
  <dcterms:created xsi:type="dcterms:W3CDTF">2026-10-19T03:30:37Z</dcterms:created>
  <dcterms:modified xsi:type="dcterms:W3CDTF">2026-10-19T02:57:45Z</dcterms:modified>
  <cp:category/>
</cp:coreProperties>
</file>