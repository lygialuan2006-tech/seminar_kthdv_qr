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72" r:id="rId6"/>
    <p:sldId id="261" r:id="rId7"/>
    <p:sldId id="263" r:id="rId8"/>
    <p:sldId id="273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30AB8-9B65-4460-9DCC-29903D74FA8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8840B-496D-4562-8B65-FFFBA5DA1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5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3EECF00-78E1-4449-9616-7D09DA6FB20D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2F1A0690-07CA-425B-9535-76757BD6DBF8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1C284029-3B53-47EE-AE42-C53B4E958958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400">
                <a:latin typeface="Aptos" panose="020B0004020202020204" pitchFamily="34" charset="0"/>
              </a:defRPr>
            </a:lvl2pPr>
            <a:lvl3pPr>
              <a:defRPr sz="2000">
                <a:latin typeface="Aptos" panose="020B0004020202020204" pitchFamily="34" charset="0"/>
              </a:defRPr>
            </a:lvl3pPr>
            <a:lvl4pPr>
              <a:defRPr sz="18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400">
                <a:latin typeface="Aptos" panose="020B0004020202020204" pitchFamily="34" charset="0"/>
              </a:defRPr>
            </a:lvl2pPr>
            <a:lvl3pPr>
              <a:defRPr sz="2000">
                <a:latin typeface="Aptos" panose="020B0004020202020204" pitchFamily="34" charset="0"/>
              </a:defRPr>
            </a:lvl3pPr>
            <a:lvl4pPr>
              <a:defRPr sz="18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ECD55194-0B45-4600-8B83-54B2E010E2A5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Aptos" panose="020B0004020202020204" pitchFamily="34" charset="0"/>
              </a:defRPr>
            </a:lvl1pPr>
            <a:lvl2pPr>
              <a:defRPr sz="2000">
                <a:latin typeface="Aptos" panose="020B0004020202020204" pitchFamily="34" charset="0"/>
              </a:defRPr>
            </a:lvl2pPr>
            <a:lvl3pPr>
              <a:defRPr sz="1800">
                <a:latin typeface="Aptos" panose="020B0004020202020204" pitchFamily="34" charset="0"/>
              </a:defRPr>
            </a:lvl3pPr>
            <a:lvl4pPr>
              <a:defRPr sz="1600">
                <a:latin typeface="Aptos" panose="020B0004020202020204" pitchFamily="34" charset="0"/>
              </a:defRPr>
            </a:lvl4pPr>
            <a:lvl5pPr>
              <a:defRPr sz="1600">
                <a:latin typeface="Aptos" panose="020B00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>
                <a:latin typeface="Aptos" panose="020B0004020202020204" pitchFamily="34" charset="0"/>
              </a:defRPr>
            </a:lvl1pPr>
            <a:lvl2pPr>
              <a:defRPr sz="2000">
                <a:latin typeface="Aptos" panose="020B0004020202020204" pitchFamily="34" charset="0"/>
              </a:defRPr>
            </a:lvl2pPr>
            <a:lvl3pPr>
              <a:defRPr sz="1800">
                <a:latin typeface="Aptos" panose="020B0004020202020204" pitchFamily="34" charset="0"/>
              </a:defRPr>
            </a:lvl3pPr>
            <a:lvl4pPr>
              <a:defRPr sz="1600">
                <a:latin typeface="Aptos" panose="020B0004020202020204" pitchFamily="34" charset="0"/>
              </a:defRPr>
            </a:lvl4pPr>
            <a:lvl5pPr>
              <a:defRPr sz="1600">
                <a:latin typeface="Aptos" panose="020B00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AEF34DBF-B298-4454-A957-635008670EAC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46D4449D-FDE1-41F4-ABCA-E35877BAC04C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84D0BED3-4661-45E4-8B82-419B9FE3FEFA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A0A5488-A426-4EBD-9570-8A8A5BFBDF14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441FB1A2-4EF4-4FF9-87EA-278DEF5FA8D2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E99B7732-3C77-4B9E-8253-49E130B2D5C3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EC48D0FA-1C4A-48D5-B679-D5A058B14D3D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FC707C-1229-4D50-B5F0-FD1BD9B8CB0A}" type="datetime1">
              <a:rPr lang="en-GB" smtClean="0"/>
              <a:pPr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AA2C187-EAFF-55B3-9371-D1A919EFA096}"/>
              </a:ext>
            </a:extLst>
          </p:cNvPr>
          <p:cNvGrpSpPr/>
          <p:nvPr/>
        </p:nvGrpSpPr>
        <p:grpSpPr>
          <a:xfrm>
            <a:off x="1908810" y="1752600"/>
            <a:ext cx="8374380" cy="2457770"/>
            <a:chOff x="731520" y="1727210"/>
            <a:chExt cx="7680960" cy="20658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AEFA97-9B56-51C0-1C48-17602D9CE849}"/>
                </a:ext>
              </a:extLst>
            </p:cNvPr>
            <p:cNvSpPr txBox="1"/>
            <p:nvPr/>
          </p:nvSpPr>
          <p:spPr>
            <a:xfrm>
              <a:off x="731520" y="1727210"/>
              <a:ext cx="7680960" cy="595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i="0" dirty="0">
                  <a:solidFill>
                    <a:srgbClr val="1A1A1A"/>
                  </a:solidFill>
                  <a:latin typeface="Aptos" panose="020B0004020202020204" pitchFamily="34" charset="0"/>
                </a:rPr>
                <a:t>QR CODE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ADC6AB-4B55-43F4-AABB-A33AD655B84D}"/>
                </a:ext>
              </a:extLst>
            </p:cNvPr>
            <p:cNvSpPr txBox="1"/>
            <p:nvPr/>
          </p:nvSpPr>
          <p:spPr>
            <a:xfrm>
              <a:off x="731520" y="2504450"/>
              <a:ext cx="7680960" cy="3363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dirty="0" err="1">
                  <a:solidFill>
                    <a:srgbClr val="333333"/>
                  </a:solidFill>
                  <a:latin typeface="Aptos" panose="020B0004020202020204" pitchFamily="34" charset="0"/>
                </a:rPr>
                <a:t>Công</a:t>
              </a:r>
              <a:r>
                <a:rPr lang="en-US" sz="2000" b="0" i="0" dirty="0">
                  <a:solidFill>
                    <a:srgbClr val="333333"/>
                  </a:solidFill>
                  <a:latin typeface="Aptos" panose="020B0004020202020204" pitchFamily="34" charset="0"/>
                </a:rPr>
                <a:t> </a:t>
              </a:r>
              <a:r>
                <a:rPr lang="en-US" sz="2000" b="0" i="0" dirty="0" err="1">
                  <a:solidFill>
                    <a:srgbClr val="333333"/>
                  </a:solidFill>
                  <a:latin typeface="Aptos" panose="020B0004020202020204" pitchFamily="34" charset="0"/>
                </a:rPr>
                <a:t>nghệ</a:t>
              </a:r>
              <a:r>
                <a:rPr lang="en-US" sz="2000" b="0" i="0" dirty="0">
                  <a:solidFill>
                    <a:srgbClr val="333333"/>
                  </a:solidFill>
                  <a:latin typeface="Aptos" panose="020B0004020202020204" pitchFamily="34" charset="0"/>
                </a:rPr>
                <a:t> QR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22D02C-ABAD-2507-63FB-2B3F5B47B838}"/>
                </a:ext>
              </a:extLst>
            </p:cNvPr>
            <p:cNvSpPr txBox="1"/>
            <p:nvPr/>
          </p:nvSpPr>
          <p:spPr>
            <a:xfrm>
              <a:off x="731520" y="3327410"/>
              <a:ext cx="7680960" cy="4656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i="0" dirty="0" err="1">
                  <a:solidFill>
                    <a:srgbClr val="333333"/>
                  </a:solidFill>
                  <a:latin typeface="Aptos" panose="020B0004020202020204" pitchFamily="34" charset="0"/>
                </a:rPr>
                <a:t>Nhóm</a:t>
              </a:r>
              <a:r>
                <a:rPr lang="en-US" sz="1600" b="1" i="0" dirty="0">
                  <a:solidFill>
                    <a:srgbClr val="333333"/>
                  </a:solidFill>
                  <a:latin typeface="Aptos" panose="020B0004020202020204" pitchFamily="34" charset="0"/>
                </a:rPr>
                <a:t>: SOA.26-34 		     </a:t>
              </a:r>
              <a:r>
                <a:rPr lang="vi-VN" sz="1600" b="1" i="0" dirty="0">
                  <a:solidFill>
                    <a:srgbClr val="333333"/>
                  </a:solidFill>
                  <a:latin typeface="Aptos" panose="020B0004020202020204" pitchFamily="34" charset="0"/>
                </a:rPr>
                <a:t>    		    Seminar</a:t>
              </a:r>
              <a:r>
                <a:rPr lang="en-US" sz="1600" b="1" dirty="0">
                  <a:solidFill>
                    <a:srgbClr val="333333"/>
                  </a:solidFill>
                  <a:latin typeface="Aptos" panose="020B0004020202020204" pitchFamily="34" charset="0"/>
                </a:rPr>
                <a:t>: </a:t>
              </a:r>
              <a:r>
                <a:rPr lang="vi-VN" sz="1600" b="1" dirty="0">
                  <a:solidFill>
                    <a:srgbClr val="333333"/>
                  </a:solidFill>
                  <a:latin typeface="Aptos" panose="020B0004020202020204" pitchFamily="34" charset="0"/>
                </a:rPr>
                <a:t>Kiến trúc Hướng dịch vụ </a:t>
              </a:r>
              <a:r>
                <a:rPr lang="en-US" sz="1600" b="1" i="0" dirty="0">
                  <a:solidFill>
                    <a:srgbClr val="333333"/>
                  </a:solidFill>
                  <a:latin typeface="Aptos" panose="020B0004020202020204" pitchFamily="34" charset="0"/>
                </a:rPr>
                <a:t>- </a:t>
              </a:r>
              <a:r>
                <a:rPr lang="vi-VN" sz="1600" b="1" i="0" dirty="0">
                  <a:solidFill>
                    <a:srgbClr val="333333"/>
                  </a:solidFill>
                  <a:latin typeface="Aptos" panose="020B0004020202020204" pitchFamily="34" charset="0"/>
                </a:rPr>
                <a:t>504070</a:t>
              </a:r>
            </a:p>
            <a:p>
              <a:pPr algn="just"/>
              <a:r>
                <a:rPr lang="vi-VN" sz="1400" b="0" i="0" dirty="0">
                  <a:solidFill>
                    <a:srgbClr val="666666"/>
                  </a:solidFill>
                  <a:latin typeface="Aptos" panose="020B0004020202020204" pitchFamily="34" charset="0"/>
                </a:rPr>
                <a:t>Giảng viên: Dương Hữu Phúc 							   	        Học kỳ 1 2026 - 2027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A309A2-7907-C30E-9641-4B9C5C98676C}"/>
                </a:ext>
              </a:extLst>
            </p:cNvPr>
            <p:cNvSpPr/>
            <p:nvPr/>
          </p:nvSpPr>
          <p:spPr>
            <a:xfrm>
              <a:off x="731520" y="3144530"/>
              <a:ext cx="7680960" cy="25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8C7CE6E-6AD8-32D0-6D0E-00193F32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7DE5D-662F-4F8A-883D-BBF9EA2F05AF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BEEECD8-F67E-D503-F8EE-3989DA24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696" y="512064"/>
            <a:ext cx="97627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QR Là Gì</a:t>
            </a:r>
            <a:endParaRPr sz="2400" b="1" dirty="0">
              <a:solidFill>
                <a:srgbClr val="1A1A1A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0016" y="1616103"/>
            <a:ext cx="7187184" cy="235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Mã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vạch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2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chiều</a:t>
            </a:r>
            <a:endParaRPr sz="1600" b="1" dirty="0">
              <a:solidFill>
                <a:srgbClr val="1A1A1A"/>
              </a:solidFill>
              <a:latin typeface="Aptos" panose="020B00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Theo c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huẩn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ISO/IEC 18004 (Denso Wave, 1994),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lưu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dữ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liệu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trong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ma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trận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ô các ô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đen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/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trắng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Chế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độ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mã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hóa</a:t>
            </a:r>
            <a:endParaRPr sz="1600" b="1" dirty="0">
              <a:solidFill>
                <a:srgbClr val="1A1A1A"/>
              </a:solidFill>
              <a:latin typeface="Aptos" panose="020B00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Numeric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alphanumeric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byte (UTF-8) </a:t>
            </a: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Kanji. Version 1–40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và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ECC L/M/Q/H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quyết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định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dung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lượng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khả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năng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phục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hồi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Thành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phần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vật</a:t>
            </a:r>
            <a:r>
              <a:rPr sz="16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1" dirty="0" err="1">
                <a:solidFill>
                  <a:srgbClr val="1A1A1A"/>
                </a:solidFill>
                <a:latin typeface="Aptos" panose="020B0004020202020204" pitchFamily="34" charset="0"/>
              </a:rPr>
              <a:t>lý</a:t>
            </a:r>
            <a:endParaRPr sz="1600" b="1" dirty="0">
              <a:solidFill>
                <a:srgbClr val="1A1A1A"/>
              </a:solidFill>
              <a:latin typeface="Aptos" panose="020B00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Finder pattern (3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góc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)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alignment pattern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timing pattern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quiet zone.</a:t>
            </a:r>
          </a:p>
        </p:txBody>
      </p:sp>
      <p:pic>
        <p:nvPicPr>
          <p:cNvPr id="9" name="Picture 8" descr="qr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678325"/>
            <a:ext cx="2926080" cy="292608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89AD130-FF42-7289-0609-40660EEF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3FFCA-FB35-4586-A27B-8D1FFB22055C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C9A475-9EA4-2AA8-78A9-DCBDC350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8672" y="512064"/>
            <a:ext cx="919276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1A1A1A"/>
                </a:solidFill>
                <a:latin typeface="Aptos" panose="020B0004020202020204" pitchFamily="34" charset="0"/>
              </a:rPr>
              <a:t>QR </a:t>
            </a:r>
            <a:r>
              <a:rPr lang="en-US" sz="2400" b="1" dirty="0" err="1">
                <a:solidFill>
                  <a:srgbClr val="1A1A1A"/>
                </a:solidFill>
                <a:latin typeface="Aptos" panose="020B0004020202020204" pitchFamily="34" charset="0"/>
              </a:rPr>
              <a:t>Không</a:t>
            </a:r>
            <a:r>
              <a:rPr lang="en-US" sz="24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 err="1">
                <a:solidFill>
                  <a:srgbClr val="1A1A1A"/>
                </a:solidFill>
                <a:latin typeface="Aptos" panose="020B0004020202020204" pitchFamily="34" charset="0"/>
              </a:rPr>
              <a:t>Làm</a:t>
            </a:r>
            <a:r>
              <a:rPr lang="en-US" sz="2400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 err="1">
                <a:solidFill>
                  <a:srgbClr val="1A1A1A"/>
                </a:solidFill>
                <a:latin typeface="Aptos" panose="020B0004020202020204" pitchFamily="34" charset="0"/>
              </a:rPr>
              <a:t>Gì</a:t>
            </a: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 Được</a:t>
            </a:r>
            <a:endParaRPr lang="en-US" sz="2400" b="1" dirty="0">
              <a:solidFill>
                <a:srgbClr val="1A1A1A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88604"/>
              </p:ext>
            </p:extLst>
          </p:nvPr>
        </p:nvGraphicFramePr>
        <p:xfrm>
          <a:off x="670560" y="1371600"/>
          <a:ext cx="10850880" cy="38647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0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29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QR </a:t>
                      </a:r>
                      <a:r>
                        <a:rPr lang="vi-VN" sz="18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Không Làm Được</a:t>
                      </a:r>
                      <a:endParaRPr sz="18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vi-VN" sz="18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Xử lý bằng backend</a:t>
                      </a:r>
                      <a:endParaRPr sz="18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9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Không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mã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hóa</a:t>
                      </a:r>
                      <a:r>
                        <a:rPr lang="vi-VN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được dữ liệu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vi-VN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Chỉ lưu Token/Hash, không đưa dữ liệu nhạy cảm vào QR. DB chỉ lưu mã băm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9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Không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xác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thực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Ràng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buộc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thiết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vi-VN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bị, 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HMAC-SHA256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gắn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với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deviceId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.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Chụp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vé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sang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máy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khác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sẽ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bị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vi-VN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chối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9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Không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chống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sao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chép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vi-VN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Cơ chế dùng 1 lần, quét xong sẽ chuyển sang used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9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Không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bảo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đảm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đích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an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toàn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vi-VN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Kiểm soát URL chặt, chỉ chấp nhận đúng domain, đúng định dạng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DF16AF2-1656-CADD-BB85-D0F6A3F5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61A3-3F49-4775-98C2-43757CFCF1F8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D322F34-FA42-372B-95E5-A2DAB2FF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696" y="512064"/>
            <a:ext cx="97627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dirty="0" err="1">
                <a:solidFill>
                  <a:srgbClr val="1A1A1A"/>
                </a:solidFill>
                <a:latin typeface="Aptos" panose="020B0004020202020204" pitchFamily="34" charset="0"/>
              </a:rPr>
              <a:t>Các</a:t>
            </a:r>
            <a:r>
              <a:rPr lang="en-US" sz="2400" b="1" dirty="0">
                <a:solidFill>
                  <a:srgbClr val="1A1A1A"/>
                </a:solidFill>
                <a:latin typeface="Aptos" panose="020B0004020202020204" pitchFamily="34" charset="0"/>
              </a:rPr>
              <a:t> Use Cases </a:t>
            </a:r>
            <a:r>
              <a:rPr lang="en-US" sz="2400" b="1" dirty="0" err="1">
                <a:solidFill>
                  <a:srgbClr val="1A1A1A"/>
                </a:solidFill>
                <a:latin typeface="Aptos" panose="020B0004020202020204" pitchFamily="34" charset="0"/>
              </a:rPr>
              <a:t>Của</a:t>
            </a:r>
            <a:r>
              <a:rPr lang="en-US" sz="2400" b="1" dirty="0">
                <a:solidFill>
                  <a:srgbClr val="1A1A1A"/>
                </a:solidFill>
                <a:latin typeface="Aptos" panose="020B0004020202020204" pitchFamily="34" charset="0"/>
              </a:rPr>
              <a:t> QR Trong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954772"/>
              </p:ext>
            </p:extLst>
          </p:nvPr>
        </p:nvGraphicFramePr>
        <p:xfrm>
          <a:off x="670560" y="1371600"/>
          <a:ext cx="1085088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Loại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 QR</a:t>
                      </a:r>
                    </a:p>
                  </a:txBody>
                  <a:tcPr marL="82296" marR="82296" marT="27432" marB="27432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vi-VN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API trỏ tới</a:t>
                      </a:r>
                      <a:endParaRPr sz="14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Đặc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điểm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bảo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mật</a:t>
                      </a:r>
                      <a:endParaRPr sz="14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PRODUCT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/p/{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public_id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}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Public URL,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không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hết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hạn</a:t>
                      </a:r>
                      <a:endParaRPr lang="vi-VN"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DIGITAL_TICKET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/v/{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public_id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}?s={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hmac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}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Cần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đăng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ký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email + SĐT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để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hiện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QR</a:t>
                      </a:r>
                      <a:endParaRPr sz="1600" b="0" dirty="0">
                        <a:solidFill>
                          <a:srgbClr val="1A1A1A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EVENT_CHECKIN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/e/{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public_id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}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Bắt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buộc</a:t>
                      </a:r>
                      <a:r>
                        <a:rPr lang="en-US" sz="1600" b="0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</a:rPr>
                        <a:t> device binding + HMAC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0E1668B-F3FB-AA4E-F596-67CF901E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9BB4-7928-441D-B164-3BDE6C064CB5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8A8A565-BE6E-83A1-B66A-206B6F91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7334F-29A1-30D5-FD01-0FBCDECC3558}"/>
              </a:ext>
            </a:extLst>
          </p:cNvPr>
          <p:cNvSpPr txBox="1"/>
          <p:nvPr/>
        </p:nvSpPr>
        <p:spPr>
          <a:xfrm>
            <a:off x="670560" y="4663440"/>
            <a:ext cx="10127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>
                <a:latin typeface="Aptos" panose="020B0004020202020204" pitchFamily="34" charset="0"/>
              </a:rPr>
              <a:t>Cùng một thư viện sinh mã nhưng khác nhau ở đích đến và ở trạng thái mà backend trả về.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8672" y="512064"/>
            <a:ext cx="919276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Khi Nào Thì Nên Dùng Và Không Nên Dùng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10656" y="1417320"/>
            <a:ext cx="17068" cy="3566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560" y="1417320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b="1" dirty="0">
                <a:solidFill>
                  <a:srgbClr val="C00000"/>
                </a:solidFill>
                <a:latin typeface="Aptos" panose="020B0004020202020204" pitchFamily="34" charset="0"/>
              </a:rPr>
              <a:t>NÊN DÙNG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1783080"/>
            <a:ext cx="487680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Chuyển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thông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tin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nhanh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chỉ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cần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một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lần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quét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Nối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vật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thể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vật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lý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với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dữ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liệu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số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: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sản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phẩm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vé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thiết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bị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Check-in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số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lượng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lớn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trong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thời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gian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ngắn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Đã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có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backend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quản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lý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trạng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thái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và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phân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quyền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720" y="1417320"/>
            <a:ext cx="487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b="1" dirty="0">
                <a:solidFill>
                  <a:srgbClr val="C00000"/>
                </a:solidFill>
                <a:latin typeface="Aptos" panose="020B0004020202020204" pitchFamily="34" charset="0"/>
              </a:rPr>
              <a:t>KHÔNG NÊN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720" y="1783080"/>
            <a:ext cx="4998719" cy="193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Cần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định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danh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cá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nhân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chắc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chắn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sz="1600" b="0" dirty="0">
                <a:solidFill>
                  <a:srgbClr val="1A1A1A"/>
                </a:solidFill>
                <a:latin typeface="Aptos" panose="020B0004020202020204" pitchFamily="34" charset="0"/>
              </a:rPr>
              <a:t>,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phải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thêm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giấy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tờ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hoặc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OTP.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Thanh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toán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sz="1600" b="0" dirty="0">
                <a:solidFill>
                  <a:srgbClr val="1A1A1A"/>
                </a:solidFill>
                <a:latin typeface="Aptos" panose="020B0004020202020204" pitchFamily="34" charset="0"/>
              </a:rPr>
              <a:t>,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QR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chỉ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là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kênh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truyền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,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cần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xác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thực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giao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dịch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Không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có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backend </a:t>
            </a:r>
            <a:r>
              <a:rPr lang="en-US" sz="1600" b="0" dirty="0">
                <a:solidFill>
                  <a:srgbClr val="1A1A1A"/>
                </a:solidFill>
                <a:latin typeface="Aptos" panose="020B0004020202020204" pitchFamily="34" charset="0"/>
              </a:rPr>
              <a:t>,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QR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tĩnh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thì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ai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chụp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cũng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dùng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được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-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Cần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chống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trùng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toàn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cục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khi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mạng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không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ổn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Aptos" panose="020B0004020202020204" pitchFamily="34" charset="0"/>
              </a:rPr>
              <a:t>định</a:t>
            </a:r>
            <a:r>
              <a:rPr sz="1600" b="0" dirty="0">
                <a:solidFill>
                  <a:srgbClr val="1A1A1A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BDA5D6C-92F6-F8E8-5DB5-A3920A24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3F8-D34A-4624-92D4-9B278AF71259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8D97B8D-D342-CFDE-2561-6B33E93A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11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8672" y="512064"/>
            <a:ext cx="919276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Kiến trúc và công nghệ sử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10656" y="1417320"/>
            <a:ext cx="17068" cy="3566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560" y="1377172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vi-VN" b="1" dirty="0">
                <a:solidFill>
                  <a:srgbClr val="C00000"/>
                </a:solidFill>
                <a:latin typeface="Aptos" panose="020B0004020202020204" pitchFamily="34" charset="0"/>
              </a:rPr>
              <a:t>XỬ LÝ VÀ LƯU TRỮ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1783080"/>
            <a:ext cx="4876800" cy="178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1" dirty="0">
                <a:solidFill>
                  <a:srgbClr val="1A1A1A"/>
                </a:solidFill>
                <a:latin typeface="Aptos" panose="020B0004020202020204" pitchFamily="34" charset="0"/>
              </a:rPr>
              <a:t>FastAPI: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App Factory và 3 Router (public / staff / admin) để phân quyền và cô lập các API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1" dirty="0">
                <a:solidFill>
                  <a:srgbClr val="1A1A1A"/>
                </a:solidFill>
                <a:latin typeface="Aptos" panose="020B0004020202020204" pitchFamily="34" charset="0"/>
              </a:rPr>
              <a:t>SQLAlchemy: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Dùng 7 bảng &amp; Alembic Migration để quản lý toàn vẹn dữ liệu và lịch sử schema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1" dirty="0">
                <a:solidFill>
                  <a:srgbClr val="1A1A1A"/>
                </a:solidFill>
                <a:latin typeface="Aptos" panose="020B0004020202020204" pitchFamily="34" charset="0"/>
              </a:rPr>
              <a:t>Argon2id: </a:t>
            </a: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Để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hash mật khẩu chống Brute-force </a:t>
            </a: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và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tấn công bằng phần cứng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720" y="1417320"/>
            <a:ext cx="487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</a:rPr>
              <a:t>CÔNG NGHỆ 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720" y="1783080"/>
            <a:ext cx="4998719" cy="2277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1" dirty="0">
                <a:solidFill>
                  <a:srgbClr val="1A1A1A"/>
                </a:solidFill>
                <a:latin typeface="Aptos" panose="020B0004020202020204" pitchFamily="34" charset="0"/>
              </a:rPr>
              <a:t>qrcode[pil]: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Dùng để tạo QR, với chuẩn ERROR_CORRECT_M để đảm bảo QR dễ quét và chống mất mát dữ liệu.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1" dirty="0">
                <a:solidFill>
                  <a:srgbClr val="1A1A1A"/>
                </a:solidFill>
                <a:latin typeface="Aptos" panose="020B0004020202020204" pitchFamily="34" charset="0"/>
              </a:rPr>
              <a:t>public_id: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token_urlsafe(18) (độ dài ~144-bit) để chống dò đoán URL, không lộ thông tin nghiệp vụ (như ID tuần tự).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b="1" dirty="0">
                <a:solidFill>
                  <a:srgbClr val="1A1A1A"/>
                </a:solidFill>
                <a:latin typeface="Aptos" panose="020B0004020202020204" pitchFamily="34" charset="0"/>
              </a:rPr>
              <a:t>HMAC-SHA256:</a:t>
            </a:r>
            <a:r>
              <a:rPr lang="vi-VN" sz="1600" b="0" dirty="0">
                <a:solidFill>
                  <a:srgbClr val="1A1A1A"/>
                </a:solidFill>
                <a:latin typeface="Aptos" panose="020B0004020202020204" pitchFamily="34" charset="0"/>
              </a:rPr>
              <a:t> Dùng khóa bí mật server kết hợp token + deviceId và ràng buộc QR với thiết bị.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BDA5D6C-92F6-F8E8-5DB5-A3920A24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3F8-D34A-4624-92D4-9B278AF71259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8D97B8D-D342-CFDE-2561-6B33E93A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696" y="512064"/>
            <a:ext cx="97627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Các lớp bảo mật cho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443589C-A908-2944-D915-F9783CE3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2D7A-0393-47BE-935D-5679FAE948D5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AB0FD0-E9B0-4A14-2DDC-11B76130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F4680-7E9D-9868-C376-4850F703BE93}"/>
              </a:ext>
            </a:extLst>
          </p:cNvPr>
          <p:cNvSpPr txBox="1"/>
          <p:nvPr/>
        </p:nvSpPr>
        <p:spPr>
          <a:xfrm>
            <a:off x="670562" y="137717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Device Binding (HMAC)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38844-C634-FEC6-0627-7220F59A2F07}"/>
              </a:ext>
            </a:extLst>
          </p:cNvPr>
          <p:cNvSpPr txBox="1"/>
          <p:nvPr/>
        </p:nvSpPr>
        <p:spPr>
          <a:xfrm>
            <a:off x="670563" y="1837428"/>
            <a:ext cx="5425440" cy="2831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Mỗi QR được ký số gắn chặt với một deviceId tại thời điểm phát hành.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Chữ ký được tạo bằng HMAC-SHA256 trên tổ hợp token + deviceId + secret server.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Khi quét, hệ thống tính lại chữ ký từ deviceId của máy đang quét và so sánh với chữ ký trong QR.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Nếu QR bị chụp sang thiết bị khác → deviceId khác → chữ ký không khớp → từ chối (403).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Dùng so sánh constant-time để chống timing attack.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42FD6-3A6B-CC60-32CE-A0ED23359B40}"/>
              </a:ext>
            </a:extLst>
          </p:cNvPr>
          <p:cNvSpPr txBox="1"/>
          <p:nvPr/>
        </p:nvSpPr>
        <p:spPr>
          <a:xfrm>
            <a:off x="6400802" y="137717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One-Time Use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A6715B-783F-9FBB-1858-331880ED4C03}"/>
              </a:ext>
            </a:extLst>
          </p:cNvPr>
          <p:cNvSpPr txBox="1"/>
          <p:nvPr/>
        </p:nvSpPr>
        <p:spPr>
          <a:xfrm>
            <a:off x="6400804" y="1833769"/>
            <a:ext cx="487680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Trạng thái vé chuyển từ ISSUED sang USED bằng một thao tác cập nhật nguyên tử có điều kiện.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Điều kiện: vé phải đang ISSUED, chưa dùng, chưa thu hồi, chưa hết hạn.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Cơ chế chống race condition (hai người quét cùng lúc).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696" y="512064"/>
            <a:ext cx="97627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Các lớp bảo mật cho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443589C-A908-2944-D915-F9783CE3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2D7A-0393-47BE-935D-5679FAE948D5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AB0FD0-E9B0-4A14-2DDC-11B76130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DF7A0-F834-1613-7A98-A990B505248B}"/>
              </a:ext>
            </a:extLst>
          </p:cNvPr>
          <p:cNvSpPr txBox="1"/>
          <p:nvPr/>
        </p:nvSpPr>
        <p:spPr>
          <a:xfrm>
            <a:off x="670560" y="144259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Vòng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đời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vé</a:t>
            </a:r>
            <a:endParaRPr lang="en-US" b="1" dirty="0">
              <a:solidFill>
                <a:srgbClr val="1A1A1A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C4B52-4037-CCCF-B9C3-3DDC315E1B60}"/>
              </a:ext>
            </a:extLst>
          </p:cNvPr>
          <p:cNvSpPr txBox="1"/>
          <p:nvPr/>
        </p:nvSpPr>
        <p:spPr>
          <a:xfrm>
            <a:off x="670560" y="1907113"/>
            <a:ext cx="542544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Mỗi vé có thời điểm hết hạn được kiểm tra trước và ngay trong khi cập nhật.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Admin có thể thu hồi bất kỳ vé chưa dùng.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Vé đã dùng không thể thu hồi.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39F18-E11E-6DE8-F4F4-B5EC48FAA756}"/>
              </a:ext>
            </a:extLst>
          </p:cNvPr>
          <p:cNvSpPr txBox="1"/>
          <p:nvPr/>
        </p:nvSpPr>
        <p:spPr>
          <a:xfrm>
            <a:off x="6400800" y="1453896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Bảo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mật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Token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2A114-98C0-7AAD-0BED-418E4E36CB51}"/>
              </a:ext>
            </a:extLst>
          </p:cNvPr>
          <p:cNvSpPr txBox="1"/>
          <p:nvPr/>
        </p:nvSpPr>
        <p:spPr>
          <a:xfrm>
            <a:off x="6400800" y="1868427"/>
            <a:ext cx="487680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Dùng SHA-256 để hash token được sinh ra từ server khi tạo QR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Database chỉ lưu token đã hash, không lưu token gốc.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Khi quét, server hash token nhận được rồi tra cứu theo hash.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C5ABF-CCD2-2D75-98AD-B13FE17090E9}"/>
              </a:ext>
            </a:extLst>
          </p:cNvPr>
          <p:cNvSpPr txBox="1"/>
          <p:nvPr/>
        </p:nvSpPr>
        <p:spPr>
          <a:xfrm>
            <a:off x="670560" y="362247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Chống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vi-VN" b="1" dirty="0">
                <a:solidFill>
                  <a:srgbClr val="1A1A1A"/>
                </a:solidFill>
                <a:latin typeface="Aptos" panose="020B0004020202020204" pitchFamily="34" charset="0"/>
              </a:rPr>
              <a:t>g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iả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mạo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URL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1E202-6284-E7EF-CF22-8177A3DB258C}"/>
              </a:ext>
            </a:extLst>
          </p:cNvPr>
          <p:cNvSpPr txBox="1"/>
          <p:nvPr/>
        </p:nvSpPr>
        <p:spPr>
          <a:xfrm>
            <a:off x="670560" y="4122746"/>
            <a:ext cx="54254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Dùng chuỗi id public ngẫu nhiên 18 byte để chống brute-force đường dẫn.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C55DC-6A97-6E42-39E4-6BF6C0157A62}"/>
              </a:ext>
            </a:extLst>
          </p:cNvPr>
          <p:cNvSpPr txBox="1"/>
          <p:nvPr/>
        </p:nvSpPr>
        <p:spPr>
          <a:xfrm>
            <a:off x="6400800" y="362644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Xác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thực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 </a:t>
            </a:r>
            <a:r>
              <a:rPr lang="vi-VN" b="1" dirty="0">
                <a:solidFill>
                  <a:srgbClr val="1A1A1A"/>
                </a:solidFill>
                <a:latin typeface="Aptos" panose="020B0004020202020204" pitchFamily="34" charset="0"/>
              </a:rPr>
              <a:t>v</a:t>
            </a:r>
            <a:r>
              <a:rPr lang="en-US" b="1" dirty="0">
                <a:solidFill>
                  <a:srgbClr val="1A1A1A"/>
                </a:solidFill>
                <a:latin typeface="Aptos" panose="020B0004020202020204" pitchFamily="34" charset="0"/>
              </a:rPr>
              <a:t>ị </a:t>
            </a:r>
            <a:r>
              <a:rPr lang="en-US" b="1" dirty="0" err="1">
                <a:solidFill>
                  <a:srgbClr val="1A1A1A"/>
                </a:solidFill>
                <a:latin typeface="Aptos" panose="020B0004020202020204" pitchFamily="34" charset="0"/>
              </a:rPr>
              <a:t>trí</a:t>
            </a:r>
            <a:endParaRPr lang="en-US" b="1" dirty="0">
              <a:solidFill>
                <a:srgbClr val="1A1A1A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2C3D9-B97C-DDAD-824A-5483A34E45B4}"/>
              </a:ext>
            </a:extLst>
          </p:cNvPr>
          <p:cNvSpPr txBox="1"/>
          <p:nvPr/>
        </p:nvSpPr>
        <p:spPr>
          <a:xfrm>
            <a:off x="6400800" y="4040973"/>
            <a:ext cx="487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lang="vi-VN" sz="1600" dirty="0">
                <a:solidFill>
                  <a:srgbClr val="1A1A1A"/>
                </a:solidFill>
                <a:latin typeface="Aptos" panose="020B0004020202020204" pitchFamily="34" charset="0"/>
              </a:rPr>
              <a:t>- Dùng GPS để giới hạn phạm vị khả dụng để quét QR, để chặn quét khi ngoài vùng.</a:t>
            </a:r>
          </a:p>
        </p:txBody>
      </p:sp>
    </p:spTree>
    <p:extLst>
      <p:ext uri="{BB962C8B-B14F-4D97-AF65-F5344CB8AC3E}">
        <p14:creationId xmlns:p14="http://schemas.microsoft.com/office/powerpoint/2010/main" val="298622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" y="27432"/>
            <a:ext cx="1709928" cy="9418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696" y="512064"/>
            <a:ext cx="97627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dirty="0">
                <a:solidFill>
                  <a:srgbClr val="1A1A1A"/>
                </a:solidFill>
                <a:latin typeface="Aptos" panose="020B0004020202020204" pitchFamily="34" charset="0"/>
              </a:rP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560" y="1115568"/>
            <a:ext cx="1085088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550" y="2804160"/>
            <a:ext cx="102489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vi-VN" sz="2400" b="1" dirty="0">
                <a:solidFill>
                  <a:srgbClr val="1A1A1A"/>
                </a:solidFill>
                <a:latin typeface="Aptos" panose="020B0004020202020204" pitchFamily="34" charset="0"/>
              </a:rPr>
              <a:t>Cảm ơn Thầy và các bạn đã lắng nghe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CCADE6F-B245-A8F6-A15E-9A0E9AE8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D0C2-3A65-42F0-B39E-B9C2935C8422}" type="datetime1">
              <a:rPr lang="en-GB" smtClean="0"/>
              <a:t>26/10/2026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9D71DB-B1ED-9838-F7AE-6CBF4BA3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930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Hoa Khang</cp:lastModifiedBy>
  <cp:revision>4</cp:revision>
  <dcterms:created xsi:type="dcterms:W3CDTF">2026-10-19T03:30:37Z</dcterms:created>
  <dcterms:modified xsi:type="dcterms:W3CDTF">2026-10-26T00:12:49Z</dcterms:modified>
  <cp:category/>
</cp:coreProperties>
</file>