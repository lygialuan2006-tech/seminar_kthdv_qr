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2" r:id="rId23"/>
    <p:sldId id="273" r:id="rId24"/>
    <p:sldId id="271" r:id="rId22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12" Type="http://schemas.openxmlformats.org/officeDocument/2006/relationships/slide" Target="slides/slide6.xml" /><ns0:Relationship Id="rId13" Type="http://schemas.openxmlformats.org/officeDocument/2006/relationships/slide" Target="slides/slide7.xml" /><ns0:Relationship Id="rId14" Type="http://schemas.openxmlformats.org/officeDocument/2006/relationships/slide" Target="slides/slide8.xml" /><ns0:Relationship Id="rId15" Type="http://schemas.openxmlformats.org/officeDocument/2006/relationships/slide" Target="slides/slide9.xml" /><ns0:Relationship Id="rId16" Type="http://schemas.openxmlformats.org/officeDocument/2006/relationships/slide" Target="slides/slide10.xml" /><ns0:Relationship Id="rId17" Type="http://schemas.openxmlformats.org/officeDocument/2006/relationships/slide" Target="slides/slide11.xml" /><ns0:Relationship Id="rId18" Type="http://schemas.openxmlformats.org/officeDocument/2006/relationships/slide" Target="slides/slide12.xml" /><ns0:Relationship Id="rId19" Type="http://schemas.openxmlformats.org/officeDocument/2006/relationships/slide" Target="slides/slide13.xml" /><ns0:Relationship Id="rId20" Type="http://schemas.openxmlformats.org/officeDocument/2006/relationships/slide" Target="slides/slide14.xml" /><ns0:Relationship Id="rId21" Type="http://schemas.openxmlformats.org/officeDocument/2006/relationships/slide" Target="slides/slide15.xml" /><ns0:Relationship Id="rId22" Type="http://schemas.openxmlformats.org/officeDocument/2006/relationships/slide" Target="slides/slide16.xml" /><ns0:Relationship Id="rId23" Type="http://schemas.openxmlformats.org/officeDocument/2006/relationships/slide" Target="slides/slide17.xml" /><ns0:Relationship Id="rId24" Type="http://schemas.openxmlformats.org/officeDocument/2006/relationships/slide" Target="slides/slide18.xml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1636776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Inter"/>
              </a:rPr>
              <a:t>QR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60" y="23957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Inter"/>
              </a:rPr>
              <a:t>Generation &amp; Scanning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75360" y="3017520"/>
            <a:ext cx="102412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5360" y="320040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600" b="1">
                <a:solidFill>
                  <a:srgbClr val="333333"/>
                </a:solidFill>
                <a:latin typeface="Inter"/>
              </a:rPr>
              <a:t>Seminar 1  ·  Công nghệ QR Code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Inter"/>
              </a:rPr>
              <a:t>Product QR  ·  Event check-in  ·  Digital ticket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Inter"/>
              </a:rPr>
              <a:t>16 phút nội dung  ·  5 phút demo  ·  2 phút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5577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Python 3.10+  ·  FastAPI  ·  Jinja2  ·  qrcode[pil]  ·  ngrok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Nội dung và phân bổ thời gian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0560" y="1371600"/>
          <a:ext cx="10850880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53440"/>
                <a:gridCol w="7193280"/>
                <a:gridCol w="280416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#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Nội dung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Thời lượng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WHAT — QR là gì, cấu tạo, chuẩn ISO/IEC 18004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3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WHY — vấn đề cần giải quyết và ba use case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2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WHEN — bối cảnh nên và không nên dùng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HOW — kiến trúc, workflow, API, check-in một lần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5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CODE TOUR — app.py + reproducibility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3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DEMO — tạo QR, quét bằng điện thoại, quét lặp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5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BEST PRACTICES, LIMITS &amp; Q&amp;A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4 phút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WHAT — QR là gì?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1325880"/>
            <a:ext cx="609600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Mã vạch 2 chiều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Chuẩn ISO/IEC 18004 (Denso Wave, 1994), lưu dữ liệu trong ma trận ô đen/trắng.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Chế độ mã hóa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Numeric · alphanumeric · byte (UTF-8) · Kanji. Version 1–40 và ECC L/M/Q/H quyết định dung lượng, khả năng phục hồi.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Thành phần vật lý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Finder pattern (3 góc) · alignment pattern · timing pattern · quiet zone.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Tham số của demo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ERROR_CORRECT_M · box_size = 10 · border = 4.</a:t>
            </a:r>
          </a:p>
        </p:txBody>
      </p:sp>
      <p:pic>
        <p:nvPicPr>
          <p:cNvPr id="9" name="Picture 8" descr="qr_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17320"/>
            <a:ext cx="292608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27520" y="4434840"/>
            <a:ext cx="487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QR thật do demo sinh ra — quét được bằng camera điện thoại.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0560" y="5074920"/>
            <a:ext cx="10850880" cy="5029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16" y="5193792"/>
            <a:ext cx="10411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QR lưu một chuỗi; ý nghĩa của chuỗi do ứng dụng quyết định.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WHAT — QR không làm gì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0560" y="1371600"/>
          <a:ext cx="10850880" cy="3200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01440"/>
                <a:gridCol w="6949440"/>
              </a:tblGrid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QR không…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Hệ quả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Không mã hóa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Ai có ảnh đều đọc được nội dung bên trong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Không xác thực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Không chứng minh người cầm là chủ vé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Không chống sao chép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Chụp màn hình hoặc in lại là có bản sao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Không bảo đảm đích an toàn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Phải kiểm tra domain và token trước khi mở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70560" y="4800600"/>
            <a:ext cx="1085088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0016" y="4919472"/>
            <a:ext cx="10411968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Inter"/>
              </a:rPr>
              <a:t>Vì vậy QR chứa token opaque hoặc URL ngắn — quyết định cuối cùng nằm ở backend.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WHY — ba use case, ba loại QR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0560" y="1371600"/>
          <a:ext cx="1085088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04160"/>
                <a:gridCol w="3901440"/>
                <a:gridCol w="4145280"/>
              </a:tblGrid>
              <a:tr h="8229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Loại QR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QR trỏ tới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Hành động sau khi quét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PRODUCT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URL hoặc token tra cứu sản phẩm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Hiện lô, thông tin, bảo hành — không check-in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EVENT_CHECKIN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Token vé gắn với một sự kiện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Xác minh và tiêu thụ vé đúng một lần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DIGITAL_TICKET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Token vé có hạn và trạng thái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Xác minh, cho vào cửa; có thể thu hồi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0560" y="4892040"/>
            <a:ext cx="10850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Inter"/>
              </a:rPr>
              <a:t>Vấn đề chung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Inter"/>
              </a:rPr>
              <a:t>Nhập mã thủ công chậm và dễ sai  ·  xếp hàng tra danh sách giấy  ·  in vé tốn kém, khó thu hồi.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WHEN — nên và không nên dùng QR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656" y="1417320"/>
            <a:ext cx="17068" cy="35661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560" y="141732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Inter"/>
              </a:rPr>
              <a:t>NÊN DÙNG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1783080"/>
            <a:ext cx="4876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Chuyển thông tin nhanh, chỉ một lần quét.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Nối vật thể vật lý với dữ liệu số: sản phẩm, vé, thiết bị.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Check-in số lượng lớn trong thời gian ngắn.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Đã có backend quản lý trạng thái và phân quyền.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2720" y="1417320"/>
            <a:ext cx="487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C00000"/>
                </a:solidFill>
                <a:latin typeface="Inter"/>
              </a:rPr>
              <a:t>KHÔNG NÊN / CHƯA ĐỦ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2720" y="1783080"/>
            <a:ext cx="499871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Cần định danh cá nhân chắc chắn — phải thêm giấy tờ hoặc OTP.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Thanh toán — QR chỉ là kênh truyền, cần xác thực giao dịch.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Không có backend — QR tĩnh thì ai chụp cũng dùng được.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Cần chống trùng toàn cục khi mạng không ổn định.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0560" y="5074920"/>
            <a:ext cx="10850880" cy="5486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0016" y="5193792"/>
            <a:ext cx="10411968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Chọn QR khi bài toán là chuyển một định danh, không phải chứng minh danh tính.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HOW — kiến trúc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70560" y="1371600"/>
            <a:ext cx="10850880" cy="1783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5632" y="1490472"/>
            <a:ext cx="10460736" cy="1581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Admin / Client --POST /api/qr--&gt; FastAPI (demo/app.py)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                                   |- validate payload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                                   |- secrets.token_urlsafe(24)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                                   |- qrcode[pil] --&gt; PNG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                                   '- token registry (in-memory)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Phone / Scanner --GET /t/{token}--&gt; FastAPI --&gt; resolve / ticket page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                --POST /api/check-ins--&gt; lock + set used_at --&gt; 200 / 409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3657600"/>
            <a:ext cx="10850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Một service duy nhất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FastAPI phục vụ cả API JSON, trang vé Jinja2 và ảnh PNG — không cần service riêng cho demo.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Vì sao có ngrok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Điện thoại không truy cập được localhost của máy tính; ngrok tạo URL công khai và URL đó được nhúng vào QR.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0560" y="5074920"/>
            <a:ext cx="10850880" cy="5029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16" y="5193792"/>
            <a:ext cx="10411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Ranh giới tin cậy: token registry là nơi duy nhất quyết định vé hợp lệ.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HOW — luồng phát hành và quét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13258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PHÁT HÀNH QR</a:t>
            </a:r>
          </a:p>
        </p:txBody>
      </p:sp>
      <p:sp>
        <p:nvSpPr>
          <p:cNvPr id="9" name="Rectangle 8"/>
          <p:cNvSpPr/>
          <p:nvPr/>
        </p:nvSpPr>
        <p:spPr>
          <a:xfrm>
            <a:off x="670560" y="1664208"/>
            <a:ext cx="5120640" cy="228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632" y="1783080"/>
            <a:ext cx="4730496" cy="20848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1. Client gửi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{type, referenceId, label}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2. Validate loại QR + dữ liệu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3. Sinh token ngẫu nhiên 24 byte (~192 bit)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4. Lưu token, hạn, trạng thái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5. Encode URL -&gt; PNG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6. Trả ảnh + expiresAt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QUÉT &amp; CHECK-IN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20640" cy="228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5872" y="1783080"/>
            <a:ext cx="4730496" cy="20848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1. Scanner đọc URL/token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2. GET /t/{token}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-&gt; trang vé trên điện thoại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3. POST /api/check-ins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4. Lock + kiểm tra used_at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5. 200 lần đầu · 409 lần sau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0560" y="4251960"/>
            <a:ext cx="10850880" cy="5486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0016" y="4370832"/>
            <a:ext cx="10411968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Token không chứa dữ liệu cá nhân: lộ ảnh QR cũng không lộ thông tin người dùng.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0560" y="5074920"/>
            <a:ext cx="10850880" cy="5486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016" y="5193792"/>
            <a:ext cx="10411968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Đổi loại QR trên web sẽ reset lịch sử check-in và bộ đếm về 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HOW — API và Swagger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0560" y="1325880"/>
          <a:ext cx="10850880" cy="23042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36320"/>
                <a:gridCol w="3962400"/>
                <a:gridCol w="58521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Method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Endpoint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Mục đích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POST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/api/qr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Cấp QR, trả token + ảnh PNG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GET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/api/qr/resolve/{token}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Tra cứu thông tin công khai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GET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/api/qr/image/{token}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Ảnh PNG của mã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GET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/t/{token}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Trang vé / trang sản phẩm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POST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/api/check-ins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Check-in một lần — 409 nếu đã dùng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GET / POST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/api/stats · /api/reset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Thống kê và reset lịch sử check-in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9" name="Picture 8" descr="swagger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" y="4160520"/>
            <a:ext cx="2560320" cy="19784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4709160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Inter"/>
              </a:rPr>
              <a:t>Swagger UI tại /docs: thử cấp QR, resolve token và check-in ngay trên trình duyệt.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HOW — check-in đúng một lần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70560" y="1371600"/>
            <a:ext cx="5486400" cy="2697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5632" y="1490472"/>
            <a:ext cx="5096255" cy="2496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def check_in(token):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cred = registry[token]      # 404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if cred.type is PRODUCT:    # 400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    raise BadRequest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with cred.lock: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    if cred.used_at:        # 409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        raise AlreadyUsed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        cred.used_at = 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640" y="1371600"/>
            <a:ext cx="4876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Vì sao cần lock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Hai request đồng thời có thể cùng đọc used_at = None; lock bảo đảm chỉ một request thắng.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Phản hồi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200 — “Check-in lúc HH:MM”  ·  409 — “Vé đã được sử dụng”.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Production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Conditional UPDATE status = ISSUED → USED trong một transaction.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0560" y="4617720"/>
            <a:ext cx="1085088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16" y="4736592"/>
            <a:ext cx="104119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333333"/>
                </a:solidFill>
                <a:latin typeface="Inter"/>
              </a:rPr>
              <a:t>Chụp lại ảnh QR không tạo thêm quyền vào cửa: lượt dùng tiếp theo bị từ chối.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HOW — từ demo lên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0560" y="1371600"/>
          <a:ext cx="10850880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2640"/>
                <a:gridCol w="4023360"/>
                <a:gridCol w="475488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Thành phần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Trong demo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Khi lên production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Lưu trữ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Dict in-memory, mất khi restart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PostgreSQL/MySQL + unique index(token)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Sinh ảnh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qrcode[pil] trả PNG base64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Object storage/CDN hoặc sinh on-the-fly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Bảo mật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Không auth (demo nội bộ)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OAuth2/JWT, phân quyền issuer/scanner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Đồng thời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threading.Lock trong process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Conditional update / row lock + transaction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Vận hành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Không audit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Audit log, rate limit, metrics, tracing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70560" y="4983480"/>
            <a:ext cx="10850880" cy="5486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0016" y="5102352"/>
            <a:ext cx="10411968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333333"/>
                </a:solidFill>
                <a:latin typeface="Inter"/>
              </a:rPr>
              <a:t>Demo là bản khởi đầu minh họa luồng — không phải bản triển khai production đầy đủ.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DEMO — 5 bước trong 5 phút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0560" y="1371600"/>
          <a:ext cx="10850880" cy="3621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4754880"/>
                <a:gridCol w="5181600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Bước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Thao tác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Kỳ vọng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Tạo PRODUCT QR, referenceId = SKU-1001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Trang thông tin sản phẩm, không có nút check-in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Tạo EVENT_CHECKIN, quét bằng điện thoại qua ngrok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Trang vé mở trên điện thoại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Bấm Check-in lần 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200 — badge chuyển “Đã sử dụng”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Bấm lần 2 hoặc quét lại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409 — vé đã dùng, không vào được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Đổi loại QR trên web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Lịch sử check-in reset, bộ đếm về 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70560" y="5257800"/>
            <a:ext cx="10850880" cy="5486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0016" y="5376672"/>
            <a:ext cx="10411968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ngrok config add-authtoken &lt;TOKEN&gt; · .\run.ps1 · quét Public URL · dự phòng: QR + ảnh 200/409.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BEST PRACTICES — sáu việc nên làm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137160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Token opaque</a:t>
            </a:r>
          </a:p>
          <a:p>
            <a:pPr algn="l">
              <a:lnSpc>
                <a:spcPct val="100000"/>
              </a:lnSpc>
              <a:spcAft>
                <a:spcPts val="1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Demo sinh 192 bit ngẫu nhiên; không nhúng email/SĐT/thanh toán.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Hạn dùng và thu hồi</a:t>
            </a:r>
          </a:p>
          <a:p>
            <a:pPr algn="l">
              <a:lnSpc>
                <a:spcPct val="100000"/>
              </a:lnSpc>
              <a:spcAft>
                <a:spcPts val="1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Có expiresAt, xoay khóa được, lưu hash nếu phù hợp.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HTTPS + auth + rate limit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Kiểm tra đầu vào và ghi audit mọi lần sử dụng.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2720" y="1371600"/>
            <a:ext cx="4998719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Atomic check-in</a:t>
            </a:r>
          </a:p>
          <a:p>
            <a:pPr algn="l">
              <a:lnSpc>
                <a:spcPct val="100000"/>
              </a:lnSpc>
              <a:spcAft>
                <a:spcPts val="1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Unique constraint và idempotency để tránh quét lặp, race condition.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Kiểm thử thực tế</a:t>
            </a:r>
          </a:p>
          <a:p>
            <a:pPr algn="l">
              <a:lnSpc>
                <a:spcPct val="100000"/>
              </a:lnSpc>
              <a:spcAft>
                <a:spcPts val="1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Nhiều camera, kích thước in, ánh sáng; giữ quiet zone và tương phản.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Hiển thị domain đích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Inter"/>
              </a:rPr>
              <a:t>Hạn chế redirect tùy ý để giảm phishing.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560" y="5074920"/>
            <a:ext cx="10850880" cy="5943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0016" y="5193792"/>
            <a:ext cx="104119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333333"/>
                </a:solidFill>
                <a:latin typeface="Inter"/>
              </a:rPr>
              <a:t>Nguyên tắc: QR chỉ là giao diện — trạng thái và quyết định luôn nằm ở server.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LIMITATIONS — rủi ro và cách xử lý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0560" y="1371600"/>
          <a:ext cx="10850880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389120"/>
                <a:gridCol w="6461760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Rủi ro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Cách xử lý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Chụp màn hình hoặc in lại QR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Token one-time + đánh dấu used nguyên tử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Mất mạng tại cổng soát vé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Danh sách ký số/cache có hạn + đồng bộ xung đột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Camera hoặc ánh sáng kém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Chọn ECC phù hợp, giữ quiet zone, tương phản cao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Restart / nhiều worker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Dict/lock mất khi restart, không đồng bộ giữa workers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Demo chưa lưu bền / chưa phân quyền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Production: DB transaction, row lock, auth và audit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Đối chiếu rubric chấm điểm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0560" y="1325880"/>
          <a:ext cx="10850880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0"/>
                <a:gridCol w="1219200"/>
                <a:gridCol w="414528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Tiêu chí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Điểm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Bằng chứng trong bài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WHAT — hiểu công nghệ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Slide 3–4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WHY — mục đích và use case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Slide 5–6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HOW — kiến trúc và tích hợp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2.5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Slides 7–11, 16; demo/app.py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DEMO — thực hành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2.0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Slide 12 + demo trực tiếp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Reusability — tái sử dụng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README, slides 17, source, tests, /docs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Presentation &amp; Q&amp;A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Slides 2, 18; presenter Q&amp;A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Best practices &amp; Limitations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Slide 13–14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Tổng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10.0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Kết luận và 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1325880"/>
            <a:ext cx="10850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QR chỉ là vật mang dữ liệu.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Inter"/>
              </a:rPr>
              <a:t>Giá trị thật nằm ở token và trạng thái phía server.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0560" y="2880360"/>
          <a:ext cx="10850880" cy="2267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719328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Câu hỏi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Trả lời ngắn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QR có an toàn không?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Bản thân QR trung tính; an toàn phụ thuộc backend và quy trình.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QR bị chụp lại thì sao?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Token one-time đã dùng thì lần sau trả 409.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Mất mạng ở cổng thì sao?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/>
                        </a:rPr>
                        <a:t>Offline có kiểm soát: cache ký số, đồng bộ và xử lý xung đột.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0560" y="5440680"/>
            <a:ext cx="10850880" cy="685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632" y="5559552"/>
            <a:ext cx="10460736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333333"/>
                </a:solidFill>
                <a:latin typeface="JetBrains Mono"/>
              </a:rPr>
              <a:t>PowerShell: .\run.ps1  ·  http://localhost:8000  ·  /docs  ·  ngrok tự bật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CODE TOUR — luồng phát hành QR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70560" y="1371600"/>
            <a:ext cx="5486400" cy="2697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5632" y="1490472"/>
            <a:ext cx="5096255" cy="2496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qr_type = QrType(body.get("type"))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token = secrets.token_urlsafe(24)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expires_at = now_utc + timedelta(seconds=ttl)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png = encode_qr(resolve_url(token))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credential = Credential(..., expires_at, png)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app.state.credentials[token] = credential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with credential.lock: check used_at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333333"/>
                </a:solidFill>
                <a:latin typeface="JetBrains Mono"/>
              </a:rPr>
              <a:t>if unused: set used_at; else return 409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640" y="1371600"/>
            <a:ext cx="4876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Validate request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POST /api/qr checks type, referenceId and label; optional fields depend on QR type.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Build QR payload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The URL /t/{token} is encoded as PNG; response includes token, image and expiresAt.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Consume once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Inter"/>
              </a:rPr>
              <a:t>valid_credential checks token/expiry; credential.lock guards the used_at transition.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0560" y="4617720"/>
            <a:ext cx="1085088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16" y="4736592"/>
            <a:ext cx="104119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333333"/>
                </a:solidFill>
                <a:latin typeface="Inter"/>
              </a:rPr>
              <a:t>Compact pseudocode; exact handlers are in demo/app.py. Dict + lock are process-local; use a DB transaction across workers.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Inter"/>
              </a:rPr>
              <a:t>HƯỚNG DẪN — cài đặt và tự kiểm chứng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0560" y="6355080"/>
            <a:ext cx="195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6355080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QR Code Generation &amp; Scanning  ·  Seminar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Inter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0560" y="1371600"/>
          <a:ext cx="10850880" cy="3621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4754880"/>
                <a:gridCol w="5181600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Bước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Lệnh / thao tác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Kết quả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ngrok config add-authtoken &lt;TOKEN&gt; (một lần)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Cần để quét QR bằng điện thoại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Tại thư mục gốc: .\run.ps1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Tạo .venv, cài requirements, chạy server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Mở /docs hoặc web UI; POST /api/qr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201 + token + PNG + expiresAt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Mở /t/{token}; check-in hai lần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200 lần đầu, 409 lần sau; PRODUCT → 400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cd demo; python -m pytest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Inter"/>
                        </a:rPr>
                        <a:t>Kiểm tra API, ticket, stats và reset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6350" cap="flat" cmpd="sng" algn="ctr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70560" y="5257800"/>
            <a:ext cx="10850880" cy="5486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0016" y="5376672"/>
            <a:ext cx="10411968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33333"/>
                </a:solidFill>
                <a:latin typeface="Inter"/>
              </a:rPr>
              <a:t>Local only: set $env:USE_NGROK="0" before .\run.ps1. Phone scan needs Internet and a configured ngrok authtoken.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1</ns0:TotalTime>
  <ns0:Words>0</ns0:Words>
  <ns0:Application>Microsoft Macintosh PowerPoint</ns0:Application>
  <ns0:PresentationFormat>On-screen Show (4:3)</ns0:PresentationFormat>
  <ns0:Paragraphs>0</ns0:Paragraphs>
  <ns0:Slides>18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14.0000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2026-10-19T03:30:37Z</dcterms:created>
  <dcterms:modified xsi:type="dcterms:W3CDTF">2026-10-19T03:30:37Z</dcterms:modified>
  <cp:category/>
</cp:coreProperties>
</file>